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0"/>
            <a:ext cx="11338560" cy="36576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5DFC1"/>
                </a:solidFill>
              </a:rPr>
              <a:t>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Model Interpretability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7A8D"/>
                </a:solidFill>
              </a:rPr>
              <a:t>Understanding why your model predicts what it predicts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8D"/>
                </a:solidFill>
              </a:rPr>
              <a:t>DataScientest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Before We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20116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Validate your presence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74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Make sure you're marked present in the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577840" cy="20116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Activate your 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74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Helps engagement and interaction —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577840" cy="20116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03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Respect communication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160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Use the raise-hand feature to ask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5577840" cy="20116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57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03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Mute when not speaking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60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Reduces background noise for everyone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623560" cy="1600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8640" cy="160020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645920"/>
            <a:ext cx="5120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E4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A real-world case study — why does interpretability matter?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23560" cy="1600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48640" cy="160020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645920"/>
            <a:ext cx="5120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E4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What &amp; 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737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Definitions, dimensions, and motivation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5623560" cy="1600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926080"/>
            <a:ext cx="548640" cy="160020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429000"/>
            <a:ext cx="5120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E4A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63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Traditional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204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Feature importance, coefficients, PCA — and their limits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623560" cy="1600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48640" cy="160020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429000"/>
            <a:ext cx="5120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E4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063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SHAP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5204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The modern standard: global + local explanations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709160"/>
            <a:ext cx="5623560" cy="1600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709160"/>
            <a:ext cx="548640" cy="160020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5212080"/>
            <a:ext cx="5120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E4A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Hands-on Notebook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3035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Apply SHAP on census data and text classification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09160"/>
            <a:ext cx="5623560" cy="1600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709160"/>
            <a:ext cx="548640" cy="160020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5212080"/>
            <a:ext cx="5120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E4A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Your 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3035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Open challenge — interpret a model of your choice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5DFC1"/>
                </a:solidFill>
              </a:rPr>
              <a:t>Why interpretability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 Real Story: Estelle's Loan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3A4A"/>
                </a:solidFill>
              </a:rPr>
              <a:t>Estelle is looking for her first real estate investment.</a:t>
            </a:r>
          </a:p>
          <a:p>
            <a:pPr algn="l"/>
            <a:r>
              <a:rPr sz="17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2D3A4A"/>
                </a:solidFill>
              </a:rPr>
              <a:t>She goes to her bank to apply for a loan.</a:t>
            </a:r>
          </a:p>
          <a:p>
            <a:pPr algn="l"/>
            <a:r>
              <a:rPr sz="17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2D3A4A"/>
                </a:solidFill>
              </a:rPr>
              <a:t>She provides all the required documents:</a:t>
            </a:r>
          </a:p>
          <a:p>
            <a:pPr algn="l"/>
            <a:r>
              <a:rPr sz="1700" b="0">
                <a:solidFill>
                  <a:srgbClr val="2D3A4A"/>
                </a:solidFill>
              </a:rPr>
              <a:t>  • Income history</a:t>
            </a:r>
          </a:p>
          <a:p>
            <a:pPr algn="l"/>
            <a:r>
              <a:rPr sz="1700" b="0">
                <a:solidFill>
                  <a:srgbClr val="2D3A4A"/>
                </a:solidFill>
              </a:rPr>
              <a:t>  • Employment status</a:t>
            </a:r>
          </a:p>
          <a:p>
            <a:pPr algn="l"/>
            <a:r>
              <a:rPr sz="1700" b="0">
                <a:solidFill>
                  <a:srgbClr val="2D3A4A"/>
                </a:solidFill>
              </a:rPr>
              <a:t>  • Credit score</a:t>
            </a:r>
          </a:p>
          <a:p>
            <a:pPr algn="l"/>
            <a:r>
              <a:rPr sz="1700" b="0">
                <a:solidFill>
                  <a:srgbClr val="2D3A4A"/>
                </a:solidFill>
              </a:rPr>
              <a:t>  • Personal financial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188720"/>
            <a:ext cx="4572000" cy="5029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16459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834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</a:rPr>
              <a:t>Bank Loan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3383280"/>
            <a:ext cx="4114800" cy="347472"/>
          </a:xfrm>
          <a:prstGeom prst="rect">
            <a:avLst/>
          </a:prstGeom>
          <a:solidFill>
            <a:srgbClr val="E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3419856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Age: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785616"/>
            <a:ext cx="4114800" cy="347472"/>
          </a:xfrm>
          <a:prstGeom prst="rect">
            <a:avLst/>
          </a:prstGeom>
          <a:solidFill>
            <a:srgbClr val="E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82219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Income: €32,000/yr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4187952"/>
            <a:ext cx="4114800" cy="347472"/>
          </a:xfrm>
          <a:prstGeom prst="rect">
            <a:avLst/>
          </a:prstGeom>
          <a:solidFill>
            <a:srgbClr val="E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22452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Marital status: Single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4590288"/>
            <a:ext cx="4114800" cy="347472"/>
          </a:xfrm>
          <a:prstGeom prst="rect">
            <a:avLst/>
          </a:prstGeom>
          <a:solidFill>
            <a:srgbClr val="E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4626864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Employment: 4 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4992624"/>
            <a:ext cx="4114800" cy="347472"/>
          </a:xfrm>
          <a:prstGeom prst="rect">
            <a:avLst/>
          </a:prstGeom>
          <a:solidFill>
            <a:srgbClr val="E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5029200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Capital savings: €2,400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Problem: High Performance, Zero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486400" cy="5029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What the model does: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</a:rPr>
              <a:t>✅  Trained on 50,000 loan cases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✅  Accuracy: 91%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✅  Processes Estelle's file in 0.3 seconds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❌  REJECTED — ineligible for loan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14800"/>
            <a:ext cx="5120640" cy="2743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E4A"/>
                </a:solidFill>
              </a:rPr>
              <a:t>Estelle asks: "Why was I rejected?"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006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6B35"/>
                </a:solidFill>
              </a:rPr>
              <a:t>Banker: "The algorithm decided so.
I cannot explain it."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623560" cy="5029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5DFC1"/>
                </a:solidFill>
              </a:rPr>
              <a:t>Why this is a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DFC1"/>
                </a:solidFill>
              </a:rPr>
              <a:t>⚖️  Legal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74519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GDPR Article 22: right to explanation
for automated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5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DFC1"/>
                </a:solidFill>
              </a:rPr>
              <a:t>🤝 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880359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Customers lose trust in decisions
they cannot 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8619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DFC1"/>
                </a:solidFill>
              </a:rPr>
              <a:t>🐛  Bugs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886199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Model may have learned spurious
correlations — without interpretability,
you'll never know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92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DFC1"/>
                </a:solidFill>
              </a:rPr>
              <a:t>📊  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892039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Stakeholders need confidence
before deploying a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WHAT IS INTERPRETABILITY?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5DFC1"/>
                </a:solidFill>
              </a:rPr>
              <a:t>Definitions &amp; dimensions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Two Key Dimensions of Interpretability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4688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DFC1"/>
                </a:solidFill>
              </a:rPr>
              <a:t>SCOPE — What level does the explanation target?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</a:rPr>
              <a:t>🌍  GLOBAL — How does the model behave overall?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   Which features matter most across ALL predictions?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   → Beeswarm plot, feature importance bar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🔍  LOCAL — Why this specific prediction?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   For this one person, which features drove the decision?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   → Force plot, waterfall plot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577840" cy="24688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57784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1615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DFC1"/>
                </a:solidFill>
              </a:rPr>
              <a:t>METHOD TYPE — When is the explanation generated?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</a:rPr>
              <a:t>🔓  INTRINSIC — Built into the model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   Simple, transparent structure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   → Decision trees, linear regression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🔬  POST HOC — Applied after training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   Explains any black-box model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   → SHAP, LIME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11475720" cy="36576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Our journey in this masterclass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80560"/>
            <a:ext cx="356616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</a:rPr>
              <a:t>Decision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E4A"/>
                </a:solidFill>
              </a:rPr>
              <a:t>Intrinsic
Global + 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480560"/>
            <a:ext cx="356616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617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</a:rPr>
              <a:t>Log.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074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E4A"/>
                </a:solidFill>
              </a:rPr>
              <a:t>Intrinsic
Global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480560"/>
            <a:ext cx="3566160" cy="1737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617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</a:rPr>
              <a:t>SHAP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5074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E4A"/>
                </a:solidFill>
              </a:rPr>
              <a:t>Post Hoc
Global + Local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High Accuracy ≠ Correct Reasoning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</a:rPr>
              <a:t>A team builds a wolf vs. dog classifier.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Test accuracy:  98% ✅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They deploy it. Then use an interpretation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method. The discovery is surprising...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The model is not looking at the animals.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It learned the BACKGROUND.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Wolves → snowy/forest backgrounds</a:t>
            </a:r>
          </a:p>
          <a:p>
            <a:pPr algn="l"/>
            <a:r>
              <a:rPr sz="1500" b="0">
                <a:solidFill>
                  <a:srgbClr val="2D3A4A"/>
                </a:solidFill>
              </a:rPr>
              <a:t>Dogs  → indoor/domestic backgrounds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5943600" cy="52120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5DFC1"/>
                </a:solidFill>
              </a:rPr>
              <a:t>What the model ACTUALLY learned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920240"/>
            <a:ext cx="548640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5DFC1"/>
                </a:solidFill>
              </a:rPr>
              <a:t>🐺 Snow background → WOLF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06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Background pixels =
high activation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023360"/>
            <a:ext cx="548640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🐕 Indoor background → DOG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7091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Animal features =
ignored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5989320"/>
            <a:ext cx="54864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6035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6B35"/>
                </a:solidFill>
              </a:rPr>
              <a:t>Without interpretability, this bug stays hidden until production fails.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Interpretability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749039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5DFC1"/>
                </a:solidFill>
              </a:rPr>
              <a:t>⚖️  Legal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GDPR right to explanation (Article 22)
for automated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188720"/>
            <a:ext cx="3749039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1188720"/>
            <a:ext cx="3749039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24358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5DFC1"/>
                </a:solidFill>
              </a:rPr>
              <a:t>🤝  Build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Stakeholders accept models they
can understand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188720"/>
            <a:ext cx="3749039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188720"/>
            <a:ext cx="3749039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24358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5DFC1"/>
                </a:solidFill>
              </a:rPr>
              <a:t>🐛  Catch Model Bugs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Surface unexpected correlations
before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3749039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3749039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124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5DFC1"/>
                </a:solidFill>
              </a:rPr>
              <a:t>📈  Improve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Understand failures to guide
feature 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3657600"/>
            <a:ext cx="3749039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3657600"/>
            <a:ext cx="3749039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37124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5DFC1"/>
                </a:solidFill>
              </a:rPr>
              <a:t>🎯  Business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297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Data Scientists communicate
findings to non-technical teams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3657600"/>
            <a:ext cx="3749039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0456" y="3657600"/>
            <a:ext cx="3749039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6" y="37124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5DFC1"/>
                </a:solidFill>
              </a:rPr>
              <a:t>⚠️  Detect Bias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4297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Identify unfair patterns
(gender, age, race signals)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Performance / Interpretability Tradeoff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4572000" cy="3657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36576" cy="44165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Interpretability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004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Performance
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9472" y="1901952"/>
            <a:ext cx="219456" cy="21945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Neural Net
Random Forest
XGBoost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2816352"/>
            <a:ext cx="219456" cy="219456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468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SVM
k-NN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36192" y="4005072"/>
            <a:ext cx="219456" cy="219456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Decision Tree
Linear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103120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18661" y="2453935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40042" y="2784487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1423" y="3094775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82804" y="3384799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04185" y="3654560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5566" y="3904057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46947" y="4133290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68328" y="4342260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89709" y="4530965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1090" y="4699408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32471" y="4847586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53852" y="4975501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75233" y="5083152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96614" y="5170539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17995" y="5237662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39376" y="5284522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60757" y="5311118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82138" y="5317451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03520" y="5303520"/>
            <a:ext cx="73152" cy="73152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DFC1"/>
                </a:solidFill>
              </a:rPr>
              <a:t>SHAP bridges the gap 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1188720"/>
            <a:ext cx="548640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1371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Can we have both?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2011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5DFC1"/>
                </a:solidFill>
              </a:rPr>
              <a:t>YES — with post hoc interpretability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26060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Train the most powerful model: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→ XGBoost, Random Forest, etc.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Apply SHAP after training: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→ Get explanations without
     sacrificing performance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Industry reality (finance, insurance):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→ Regulators now require explanations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→ SHAP is the standard tool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TRADITIONAL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5DFC1"/>
                </a:solidFill>
              </a:rPr>
              <a:t>And their limitations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Traditional Techniques — And Why They're Not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56616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56616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291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DFC1"/>
                </a:solidFill>
              </a:rPr>
              <a:t>🌳 Decision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</a:rPr>
              <a:t>Visualize yes/no decision paths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Read splits from root to leaf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✅ Fully transparent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❌ Only shallow trees readable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❌ Very unstable (tiny data change
   → completely different tree)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88720"/>
            <a:ext cx="356616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188720"/>
            <a:ext cx="356616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16152"/>
            <a:ext cx="3291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DFC1"/>
                </a:solidFill>
              </a:rPr>
              <a:t>📊 Coefficients (LogReg)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7830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</a:rPr>
              <a:t>Positive coef → pushes toward class 1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Negative coef → pushes toward class 0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✅ Direction is interpretable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❌ Linear models only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❌ Cannot capture interactions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188720"/>
            <a:ext cx="356616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188720"/>
            <a:ext cx="356616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216152"/>
            <a:ext cx="3291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DFC1"/>
                </a:solidFill>
              </a:rPr>
              <a:t>🗺️ PCA Biplot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7830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</a:rPr>
              <a:t>Projects data onto 2D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Arrows = feature directions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✅ Good for exploration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❌ Lossy projection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❌ Not tied to model predictions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6446520"/>
            <a:ext cx="115214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Common weakness: all these methods fail on complex models (XGBoost, neural nets). → We need SHAP.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Technique Landscape — When to Use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28600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2161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5DFC1"/>
                </a:solidFill>
              </a:rPr>
              <a:t>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188720"/>
            <a:ext cx="155448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24912" y="121615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5DFC1"/>
                </a:solidFill>
              </a:rPr>
              <a:t>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88720"/>
            <a:ext cx="155448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21615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5DFC1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188720"/>
            <a:ext cx="182880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5312" y="121615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5DFC1"/>
                </a:solidFill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188720"/>
            <a:ext cx="320040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21615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5DFC1"/>
                </a:solidFill>
              </a:rPr>
              <a:t>Best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91640"/>
            <a:ext cx="22860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1764792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Decision Tree viz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691640"/>
            <a:ext cx="155448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1764792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Global + Local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691640"/>
            <a:ext cx="155448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1764792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Trees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691640"/>
            <a:ext cx="18288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25312" y="176479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Tree diagram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1691640"/>
            <a:ext cx="32004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9831" y="176479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Simple, shallow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359152"/>
            <a:ext cx="22860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43230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Feature Importance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359152"/>
            <a:ext cx="155448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4912" y="2432304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Global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2359152"/>
            <a:ext cx="155448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2" y="2432304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Trees/Forests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359152"/>
            <a:ext cx="18288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25312" y="243230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Bar chart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2359152"/>
            <a:ext cx="32004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9831" y="2432304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Quick ranking (unstable)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026664"/>
            <a:ext cx="22860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3099816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Coefficients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3026664"/>
            <a:ext cx="155448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24912" y="309981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Global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026664"/>
            <a:ext cx="155448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309981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Linear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3026664"/>
            <a:ext cx="18288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25312" y="3099816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Bar chart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3026664"/>
            <a:ext cx="32004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99831" y="3099816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Linear models, direction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694176"/>
            <a:ext cx="22860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" y="376732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PCA Biplot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3694176"/>
            <a:ext cx="155448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24912" y="3767328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Global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0" y="3694176"/>
            <a:ext cx="155448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5112" y="3767328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Any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3694176"/>
            <a:ext cx="18288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25312" y="37673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Scatter plot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6679" y="3694176"/>
            <a:ext cx="3200400" cy="6400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99831" y="3767328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Data exploration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361688"/>
            <a:ext cx="228600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4434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5E"/>
                </a:solidFill>
              </a:rPr>
              <a:t>SHAP beeswarm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4361688"/>
            <a:ext cx="155448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24912" y="4434840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Global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60" y="4361688"/>
            <a:ext cx="155448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5112" y="4434840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Any (Tree/NN)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60" y="4361688"/>
            <a:ext cx="182880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25312" y="4434840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Dot plot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679" y="4361688"/>
            <a:ext cx="320040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99831" y="443484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Feature impact at scale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029200"/>
            <a:ext cx="228600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3192" y="5102352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5E"/>
                </a:solidFill>
              </a:rPr>
              <a:t>SHAP force plot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1760" y="5029200"/>
            <a:ext cx="155448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24912" y="5102352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Local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51960" y="5029200"/>
            <a:ext cx="155448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25112" y="5102352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Any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52160" y="5029200"/>
            <a:ext cx="182880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25312" y="51023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Bar decomposition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26679" y="5029200"/>
            <a:ext cx="320040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99831" y="510235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Single prediction explainer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5696712"/>
            <a:ext cx="228600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3192" y="576986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5E"/>
                </a:solidFill>
              </a:rPr>
              <a:t>SHAP dependence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51760" y="5696712"/>
            <a:ext cx="155448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24912" y="5769864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Global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51960" y="5696712"/>
            <a:ext cx="155448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25112" y="5769864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Any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52160" y="5696712"/>
            <a:ext cx="182880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25312" y="576986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Scatter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26679" y="5696712"/>
            <a:ext cx="3200400" cy="64008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99831" y="5769864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</a:rPr>
              <a:t>Feature interactions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A8D"/>
                </a:solidFill>
              </a:rPr>
              <a:t>★ SHAP rows highlighted — these are the focus of this masterclass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5DFC1"/>
                </a:solidFill>
              </a:rPr>
              <a:t>The modern standard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SHAP — The Intuition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66928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E4A"/>
                </a:solidFill>
              </a:rPr>
              <a:t>Think of it as a team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</a:rPr>
              <a:t>🎮  The GAME:   one prediction for one person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👥  The PLAYERS: each feature (age, income…)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🏆  The SCORE:  predicted probability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Question: how much did each player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contribute to the final score?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SHAP tries every possible combination of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features and measures how much each one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adds on average. That average = Shapley value.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Mathematical guarantee: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Σ SHAP values + expected value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= actual prediction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88720"/>
            <a:ext cx="557784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984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Decomposing one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8D"/>
                </a:solidFill>
              </a:rPr>
              <a:t>Baseline (avg prediction) = 0.24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423160"/>
            <a:ext cx="52120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marital_Married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496312"/>
            <a:ext cx="2340864" cy="3657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25146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</a:rPr>
              <a:t>+0.18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017520"/>
            <a:ext cx="52120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capital_gain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3090672"/>
            <a:ext cx="1682496" cy="3657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31089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</a:rPr>
              <a:t>+0.12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611880"/>
            <a:ext cx="52120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03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685032"/>
            <a:ext cx="914400" cy="3657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37033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</a:rPr>
              <a:t>+0.05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4206240"/>
            <a:ext cx="52120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97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occupation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08976" y="4279392"/>
            <a:ext cx="1243584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54696" y="42976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</a:rPr>
              <a:t>-0.08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4800600"/>
            <a:ext cx="52120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gender_Female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7616" y="4873752"/>
            <a:ext cx="694944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48920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</a:rPr>
              <a:t>-0.03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5486400"/>
            <a:ext cx="5212080" cy="36576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577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5DFC1"/>
                </a:solidFill>
              </a:rPr>
              <a:t>Final prediction = 0.24 + 0.18 + 0.12 + 0.05 − 0.08 − 0.03 = 0.48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SHAP Global View — The Beeswarm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39496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📖 How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</a:rPr>
              <a:t>Each ROW = one feature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Each DOT = one person in the test set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Horizontal position: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◀ LEFT = pushes toward ≤50K (negative)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RIGHT ▶ = pushes toward &gt;50K (positive)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Dot color: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🔵 Blue = low feature value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🔴 Red  = high feature value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Pattern to look for: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Red cluster RIGHT → high values push &gt;50K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Red cluster LEFT  → high values push ≤50K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Stacked dots = many people at same SHAP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585216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984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Example pattern (Census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0116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marital_Married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920239"/>
            <a:ext cx="3657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011679"/>
            <a:ext cx="1234440" cy="27432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96595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8D"/>
                </a:solidFill>
              </a:rPr>
              <a:t>High value (married) → strongly pushes &gt;50K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71576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capital_gain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624327"/>
            <a:ext cx="3657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2715767"/>
            <a:ext cx="960119" cy="27432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5560" y="267004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8D"/>
                </a:solidFill>
              </a:rPr>
              <a:t>High gain → big push, but few people have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419855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educational-num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3328415"/>
            <a:ext cx="3657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3419855"/>
            <a:ext cx="617220" cy="27432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337413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8D"/>
                </a:solidFill>
              </a:rPr>
              <a:t>More education → moderately pushes &gt;50K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123943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4032503"/>
            <a:ext cx="3657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4123943"/>
            <a:ext cx="480059" cy="27432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4078223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8D"/>
                </a:solidFill>
              </a:rPr>
              <a:t>Older → slight push toward &gt;50K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828031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gender_Female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736591"/>
            <a:ext cx="3657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72500" y="4828031"/>
            <a:ext cx="34290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4782311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8D"/>
                </a:solidFill>
              </a:rPr>
              <a:t>Being female → slight push toward ≤50K 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5321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marital_Never-married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5440679"/>
            <a:ext cx="3657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5532119"/>
            <a:ext cx="68580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548639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8D"/>
                </a:solidFill>
              </a:rPr>
              <a:t>Never married → pushes toward ≤50K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SHAP Local View — The Force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39496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📖 How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</a:rPr>
              <a:t>Explains ONE specific prediction.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Base value ≈ 0.24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→ Model's average predicted probability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→ The starting point for everyone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🔴 Red blocks: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→ Features pushing UP (toward &gt;50K)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→ Width = strength of push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🔵 Blue blocks: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→ Features pushing DOWN (toward ≤50K)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→ Width = strength of pull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f(x) = final predicted probability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= base + Σ(all SHAP contributions)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585216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984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Estelle's loan application — explained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28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</a:rPr>
              <a:t>Base value: 0.24  (avg probability of &gt;50K in population)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957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capital_gain=0  →  −0.12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331720"/>
            <a:ext cx="3154680" cy="502920"/>
          </a:xfrm>
          <a:prstGeom prst="rect">
            <a:avLst/>
          </a:prstGeom>
          <a:solidFill>
            <a:srgbClr val="FF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education  →  −0.07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971800"/>
            <a:ext cx="5486400" cy="50292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035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age: 29  →  +0.02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657600"/>
            <a:ext cx="5486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74903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DFC1"/>
                </a:solidFill>
              </a:rPr>
              <a:t>f(x) = 0.24 − 0.12 − 0.07 + 0.02 = 0.07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251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Prediction: ≤50K (7% probability of &gt;50K)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754880"/>
            <a:ext cx="5486400" cy="36576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846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5DFC1"/>
                </a:solidFill>
              </a:rPr>
              <a:t>Plain English explanation for Estelle: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257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"Your application was primarily affected by zero capital gain (−0.12) and education level (−0.07). Improving these factors would increase your eligibility score."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SHAP Dependence Plot — Feature Interactions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39496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📖 How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</a:rPr>
              <a:t>X-axis: actual value of the feature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Y-axis: SHAP value (contribution) for that feature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Color: value of a 2nd interacting feature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Upward trend → higher values push &gt;50K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Flat line → feature has no effect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Color split → interaction between features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Key question per plot: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At what value does SHAP cross zero?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= the tipping point for this feature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Interaction signal: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If red dots cluster at one end and blue at</a:t>
            </a:r>
          </a:p>
          <a:p>
            <a:pPr algn="l"/>
            <a:r>
              <a:rPr sz="1300" b="0">
                <a:solidFill>
                  <a:srgbClr val="2D3A4A"/>
                </a:solidFill>
              </a:rPr>
              <a:t>  the other → the two features interact.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585216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984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Example: age vs. SHAP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5394960"/>
            <a:ext cx="5303520" cy="27432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5440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</a:rPr>
              <a:t>SHAP=0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← pushes ≤50K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DFC1"/>
                </a:solidFill>
              </a:rPr>
              <a:t>pushes &gt;50K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534924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2303" y="534924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60967" y="5349240"/>
            <a:ext cx="9144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9631" y="534924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294" y="534924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06958" y="534924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55622" y="5349240"/>
            <a:ext cx="9144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04286" y="534924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949" y="5349240"/>
            <a:ext cx="9144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01613" y="509768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50277" y="5259409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98941" y="534924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7604" y="4957341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6268" y="5229258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44932" y="4797712"/>
            <a:ext cx="9144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93596" y="5326892"/>
            <a:ext cx="9144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42259" y="534924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90923" y="4970605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39587" y="4457356"/>
            <a:ext cx="9144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88251" y="4982517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6914" y="4514802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85578" y="4488354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34242" y="4086646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82906" y="408682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31569" y="4313585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80233" y="4248534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28897" y="3999916"/>
            <a:ext cx="9144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77561" y="3053884"/>
            <a:ext cx="9144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26224" y="3475003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74888" y="3165116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723552" y="3068832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872216" y="3474509"/>
            <a:ext cx="9144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020879" y="3035074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69543" y="3729183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8207" y="3263030"/>
            <a:ext cx="91440" cy="91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Age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1828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🔵 low capital gain   🔴 high capital gain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22860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A8D"/>
                </a:solidFill>
              </a:rPr>
              <a:t>Observation: SHAP for age increases with age,
but the effect is amplified for high capital gain (red).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PRACTICAL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5DFC1"/>
                </a:solidFill>
              </a:rPr>
              <a:t>From model to explanation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Practical Workflow — Where Interpretability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828800" cy="4937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8288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07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5DFC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Define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Target variable, business constraints,
regulatory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374903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A8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280160"/>
            <a:ext cx="1828800" cy="4937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280160"/>
            <a:ext cx="18288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307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5DFC1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87451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Prepare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4231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Feature engineering, encoding,
train/test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374903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A8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280160"/>
            <a:ext cx="1828800" cy="4937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280160"/>
            <a:ext cx="18288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307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5DFC1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87451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Train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4231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XGBoost, Random Forest…
Optimize for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374903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A8D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280160"/>
            <a:ext cx="1828800" cy="4937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1280160"/>
            <a:ext cx="1828800" cy="50292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307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E4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Global SHAP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4231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Beeswarm plot → top features
Check for bias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374903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A8D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1280160"/>
            <a:ext cx="1828800" cy="4937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60" y="1280160"/>
            <a:ext cx="1828800" cy="50292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307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E4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187451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Local SHAP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4231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Force plots for key individuals
Validate reasoning makes sense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3848" y="374903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A8D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78440" y="1280160"/>
            <a:ext cx="1828800" cy="4937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78440" y="1280160"/>
            <a:ext cx="1828800" cy="50292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1307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E4A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187451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Communicate findings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4231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Plain-English summaries for
non-technical stakeholders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A8D"/>
                </a:solidFill>
              </a:rPr>
              <a:t>← Traditional techniques          SHAP (post hoc) 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 to Estelle — Now We Can Explain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685800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SHAP force plot for Estelle's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</a:rPr>
              <a:t>Base probability: 0.24 (population average)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🔴 Factors working AGAINST loan approval: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   capital_gain = 0        → −0.12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   employment = 4 years    → −0.07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   education: high school  → −0.05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🟢 Factors SUPPORTING loan approval: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   age = 29                → +0.02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   hours/week = 40         → +0.01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Final predicted probability: 0.03 → REJECTED</a:t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3A4A"/>
                </a:solidFill>
              </a:rPr>
              <a:t>→ Below the bank's threshold of 0.35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188720"/>
            <a:ext cx="438912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2984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5DFC1"/>
                </a:solidFill>
              </a:rPr>
              <a:t>What the banker can now say: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82880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"Estelle, your application was mainly affected by the absence of capital savings (no capital gain on record) and your relatively short employment history.
If you can show 12+ months of savings activity and reach 5+ years of employment, your eligibility score would cross our threshold."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5074920"/>
            <a:ext cx="4023360" cy="36576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51663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5DFC1"/>
                </a:solidFill>
              </a:rPr>
              <a:t>This is why GDPR Article 22 matters.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5577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Interpretability = fairness + accountability.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SHAP — Limitations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6235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62356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🔗 Correlated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If two features are correlated (e.g. age &amp; experience), SHAP splits credit arbitrarily. Interpretations can be misleading. Always check correlation matrix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235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2356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52728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⏱️ Computation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TreeExplainer: fast (seconds). KernelExplainer (model-agnostic): can take hours on large datasets. DeepExplainer for neural nets: moderate. Choose the right explainer for your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94760"/>
            <a:ext cx="56235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794760"/>
            <a:ext cx="562356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58768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⚠️ SHAP ≠ Causality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A high SHAP value for 'gender' means the model uses it — not that gender causes income. Causal interpretation requires additional analysis (e.g. counterfactual methods).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94760"/>
            <a:ext cx="56235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562356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58768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Local instability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Force plots for similar individuals can look very different. Don't over-interpret a single local explanation — look at patterns across many.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Interpretability Toolkit —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1521440" cy="77724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❓  Which features matter most (globally)?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371600"/>
            <a:ext cx="3931920" cy="594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417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→  SHAP beeswarm / bar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21408"/>
            <a:ext cx="11521440" cy="7772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5856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❓  How does one feature's value affect output?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212848"/>
            <a:ext cx="3931920" cy="594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2585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→  SHAP dependence plot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62656"/>
            <a:ext cx="11521440" cy="77724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9981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❓  Why did the model predict X for person 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054096"/>
            <a:ext cx="3931920" cy="594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09981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→  SHAP force plot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03904"/>
            <a:ext cx="11521440" cy="7772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4106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❓  What does the model look like (simple)?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895344"/>
            <a:ext cx="3931920" cy="594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394106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→  Decision tree (if shallow)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645152"/>
            <a:ext cx="11521440" cy="777240"/>
          </a:xfrm>
          <a:prstGeom prst="rect">
            <a:avLst/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8231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❓  Quick global structure of predictions?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736592"/>
            <a:ext cx="3931920" cy="594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47823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→  PCA biplot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486400"/>
            <a:ext cx="11521440" cy="7772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❓  How does the model compare to a simple one?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5577840"/>
            <a:ext cx="3931920" cy="59436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5623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→  Surrogate model (LIME/SKATER)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91840"/>
            <a:ext cx="11247120" cy="36576"/>
          </a:xfrm>
          <a:prstGeom prst="rect">
            <a:avLst/>
          </a:prstGeom>
          <a:solidFill>
            <a:srgbClr val="75D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5DFC1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High accuracy ≠ correct reasoning — always interpret your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SHAP is model-agnostic, theoretically grounded, and industry-standard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323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Beeswarm for global view · Force plot for local explanations · Dependence for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97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Interpretability is not optional in regulated industries — it's a legal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27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Fairness check: always look for sensitive features in the beeswarm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5DFC1"/>
                </a:solidFill>
              </a:rPr>
              <a:t>What's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📘 Christoph Molnar — Interpretable ML (free): christophm.github.io/interpretable-ml-book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📦 SHAP documentation: shap.readthedocs.io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🔬 Try LIME for comparison: github.com/marcotcr/lime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</a:rPr>
              <a:t>⚖️ Fairness tools: fairlearn.org · aequitas.dssg.io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Questions &amp;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172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5DFC1"/>
                </a:solidFill>
              </a:rPr>
              <a:t>🙋 Raise your hand in the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